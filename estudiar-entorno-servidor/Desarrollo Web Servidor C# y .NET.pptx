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lus Jakarta Sans"/>
      <p:regular r:id="rId18"/>
      <p:bold r:id="rId19"/>
      <p:italic r:id="rId20"/>
      <p:boldItalic r:id="rId21"/>
    </p:embeddedFont>
    <p:embeddedFont>
      <p:font typeface="Fira Code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FiraCode-regular.fntdata"/><Relationship Id="rId21" Type="http://schemas.openxmlformats.org/officeDocument/2006/relationships/font" Target="fonts/PlusJakartaSans-boldItalic.fntdata"/><Relationship Id="rId23" Type="http://schemas.openxmlformats.org/officeDocument/2006/relationships/font" Target="fonts/FiraCod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9.xml"/><Relationship Id="rId22" Type="http://schemas.openxmlformats.org/officeDocument/2006/relationships/slide" Target="/ppt/slides/slide10.xml"/><Relationship Id="rId21" Type="http://schemas.openxmlformats.org/officeDocument/2006/relationships/slide" Target="/ppt/slides/slide9.xml"/><Relationship Id="rId24" Type="http://schemas.openxmlformats.org/officeDocument/2006/relationships/slide" Target="/ppt/slides/slide10.xml"/><Relationship Id="rId23" Type="http://schemas.openxmlformats.org/officeDocument/2006/relationships/slide" Target="/ppt/slides/slide10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slide" Target="/ppt/slides/slide4.xml"/><Relationship Id="rId26" Type="http://schemas.openxmlformats.org/officeDocument/2006/relationships/slide" Target="/ppt/slides/slide11.xml"/><Relationship Id="rId25" Type="http://schemas.openxmlformats.org/officeDocument/2006/relationships/slide" Target="/ppt/slides/slide10.xml"/><Relationship Id="rId28" Type="http://schemas.openxmlformats.org/officeDocument/2006/relationships/slide" Target="/ppt/slides/slide11.xml"/><Relationship Id="rId27" Type="http://schemas.openxmlformats.org/officeDocument/2006/relationships/slide" Target="/ppt/slides/slide11.xml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4.xml"/><Relationship Id="rId11" Type="http://schemas.openxmlformats.org/officeDocument/2006/relationships/slide" Target="/ppt/slides/slide5.xml"/><Relationship Id="rId10" Type="http://schemas.openxmlformats.org/officeDocument/2006/relationships/slide" Target="/ppt/slides/slide5.xml"/><Relationship Id="rId13" Type="http://schemas.openxmlformats.org/officeDocument/2006/relationships/slide" Target="/ppt/slides/slide6.xml"/><Relationship Id="rId12" Type="http://schemas.openxmlformats.org/officeDocument/2006/relationships/slide" Target="/ppt/slides/slide6.xml"/><Relationship Id="rId15" Type="http://schemas.openxmlformats.org/officeDocument/2006/relationships/slide" Target="/ppt/slides/slide7.xml"/><Relationship Id="rId14" Type="http://schemas.openxmlformats.org/officeDocument/2006/relationships/slide" Target="/ppt/slides/slide7.xml"/><Relationship Id="rId17" Type="http://schemas.openxmlformats.org/officeDocument/2006/relationships/slide" Target="/ppt/slides/slide8.xml"/><Relationship Id="rId16" Type="http://schemas.openxmlformats.org/officeDocument/2006/relationships/slide" Target="/ppt/slides/slide7.xml"/><Relationship Id="rId19" Type="http://schemas.openxmlformats.org/officeDocument/2006/relationships/slide" Target="/ppt/slides/slide9.xml"/><Relationship Id="rId18" Type="http://schemas.openxmlformats.org/officeDocument/2006/relationships/slide" Target="/ppt/slides/slide8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hyperlink" Target="http://asp.net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6.png"/><Relationship Id="rId10" Type="http://schemas.openxmlformats.org/officeDocument/2006/relationships/hyperlink" Target="http://asp.ne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hyperlink" Target="http://asp.net" TargetMode="External"/><Relationship Id="rId5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tackoverflow.com/questions" TargetMode="External"/><Relationship Id="rId4" Type="http://schemas.openxmlformats.org/officeDocument/2006/relationships/hyperlink" Target="http://microsoft.com" TargetMode="External"/><Relationship Id="rId9" Type="http://schemas.openxmlformats.org/officeDocument/2006/relationships/image" Target="../media/image26.png"/><Relationship Id="rId5" Type="http://schemas.openxmlformats.org/officeDocument/2006/relationships/hyperlink" Target="http://marketwatch" TargetMode="External"/><Relationship Id="rId6" Type="http://schemas.openxmlformats.org/officeDocument/2006/relationships/hyperlink" Target="https://www.godaddy.com/es-es/offers/godaddy?isc=sem3year&amp;countryview=1&amp;currencyType=EUR&amp;cdtl=c_17614377586.g_188509398713.k_kwd-88659201.a_779383514871.d_c.ctv_g&amp;bnb=b&amp;gad_source=1&amp;gad_campaignid=17614377586&amp;gclid=CjwKCAjwwrPVBhA1EiwAv_YO-YntdSxnq8PBRIw1m1f71kcyNQGwkyD-w9otrCMlqdtYhqRTeg3w2RoCQxwQAvD_BwE" TargetMode="External"/><Relationship Id="rId7" Type="http://schemas.openxmlformats.org/officeDocument/2006/relationships/image" Target="../media/image32.png"/><Relationship Id="rId8" Type="http://schemas.openxmlformats.org/officeDocument/2006/relationships/image" Target="../media/image22.png"/><Relationship Id="rId10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355752"/>
            <a:ext cx="106680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1845022"/>
            <a:ext cx="2533650" cy="285750"/>
          </a:xfrm>
          <a:prstGeom prst="roundRect">
            <a:avLst>
              <a:gd fmla="val 50000" name="adj"/>
            </a:avLst>
          </a:prstGeom>
          <a:solidFill>
            <a:srgbClr val="2825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355752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359372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Herramientas de Desarrollo Web en Entorno Servidor: </a:t>
            </a:r>
            <a:r>
              <a:rPr b="1" i="0" lang="en-US" sz="3900" u="none" cap="none" strike="noStrike">
                <a:solidFill>
                  <a:srgbClr val="8B5C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C# y .NET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1902172"/>
            <a:ext cx="232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Web en entorno servidor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631977"/>
            <a:ext cx="33575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AUTORES / EQUIPO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812950"/>
            <a:ext cx="28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Alejandro Crisostomo </a:t>
            </a:r>
            <a:endParaRPr b="1" sz="1200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Julian Alexander Cuevas </a:t>
            </a:r>
            <a:endParaRPr b="1" sz="1200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829050" y="4631977"/>
            <a:ext cx="17264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FECHA / CURSO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829050" y="4812952"/>
            <a:ext cx="172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Curso 202</a:t>
            </a:r>
            <a:r>
              <a:rPr b="1" lang="en-US" sz="120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- 202</a:t>
            </a:r>
            <a:r>
              <a:rPr b="1" lang="en-US" sz="120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609600" y="2281237"/>
            <a:ext cx="3101280" cy="523875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863280" y="2281237"/>
            <a:ext cx="3101429" cy="523875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09600" y="2957512"/>
            <a:ext cx="3101280" cy="523875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863280" y="2957512"/>
            <a:ext cx="3101429" cy="523875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" y="3633787"/>
            <a:ext cx="3101280" cy="523875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863280" y="3633787"/>
            <a:ext cx="3101429" cy="523875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4310062"/>
            <a:ext cx="3101280" cy="523875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3863280" y="4310062"/>
            <a:ext cx="3101429" cy="523875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09600" y="4986337"/>
            <a:ext cx="6355109" cy="523875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5709" y="2181225"/>
            <a:ext cx="423669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5709" y="2181225"/>
            <a:ext cx="423669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 DEL TRABAJO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Índice de Contenidos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00100" y="2433637"/>
            <a:ext cx="28155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5"/>
              </a:rPr>
              <a:t>01.</a:t>
            </a:r>
            <a:r>
              <a:rPr b="1" i="0" lang="en-US" sz="12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6"/>
              </a:rPr>
              <a:t> </a:t>
            </a:r>
            <a:r>
              <a:rPr b="1" lang="en-US" sz="1125" u="sng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Lenguaje de programación que se usa.</a:t>
            </a:r>
            <a:endParaRPr>
              <a:solidFill>
                <a:srgbClr val="0F172A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053780" y="2433637"/>
            <a:ext cx="281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8"/>
              </a:rPr>
              <a:t>02. </a:t>
            </a:r>
            <a:r>
              <a:rPr b="1" i="0" lang="en-US" sz="1125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Requisitos de desarrollo</a:t>
            </a:r>
            <a:endParaRPr>
              <a:solidFill>
                <a:srgbClr val="0F172A"/>
              </a:solidFill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00100" y="3109912"/>
            <a:ext cx="28155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10"/>
              </a:rPr>
              <a:t>03. </a:t>
            </a:r>
            <a:r>
              <a:rPr b="1" i="0" lang="en-US" sz="1125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Requisitos de ejecución de las páginas</a:t>
            </a:r>
            <a:endParaRPr>
              <a:solidFill>
                <a:srgbClr val="0F172A"/>
              </a:solidFill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4053780" y="3109912"/>
            <a:ext cx="281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12"/>
              </a:rPr>
              <a:t>04. </a:t>
            </a:r>
            <a:r>
              <a:rPr b="1" lang="en-US" sz="1125" u="sng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Compatibilidad con servidores web</a:t>
            </a:r>
            <a:endParaRPr>
              <a:solidFill>
                <a:srgbClr val="0F172A"/>
              </a:solidFill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800100" y="3786187"/>
            <a:ext cx="2815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14"/>
              </a:rPr>
              <a:t>05.</a:t>
            </a:r>
            <a:r>
              <a:rPr b="1" i="0" lang="en-US" sz="1200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i="0" lang="en-US" sz="1125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IDEs y herramientas</a:t>
            </a:r>
            <a:endParaRPr>
              <a:solidFill>
                <a:srgbClr val="0F172A"/>
              </a:solidFill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4053780" y="3786187"/>
            <a:ext cx="281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17"/>
              </a:rPr>
              <a:t>06. </a:t>
            </a:r>
            <a:r>
              <a:rPr b="1" i="0" lang="en-US" sz="1125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Evolución y Open Source</a:t>
            </a:r>
            <a:endParaRPr>
              <a:solidFill>
                <a:srgbClr val="0F172A"/>
              </a:solidFill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00100" y="4462462"/>
            <a:ext cx="2815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19"/>
              </a:rPr>
              <a:t>07.</a:t>
            </a:r>
            <a:r>
              <a:rPr b="1" i="0" lang="en-US" sz="1200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i="0" lang="en-US" sz="1125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Versatilidad del ecosistema</a:t>
            </a:r>
            <a:endParaRPr>
              <a:solidFill>
                <a:srgbClr val="0F172A"/>
              </a:solidFill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4053780" y="4462462"/>
            <a:ext cx="281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22"/>
              </a:rPr>
              <a:t>08. </a:t>
            </a:r>
            <a:r>
              <a:rPr b="1" i="0" lang="en-US" sz="1125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Ejemplos de programas o </a:t>
            </a:r>
            <a:r>
              <a:rPr b="1" lang="en-US" sz="1125" u="sng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páginas</a:t>
            </a:r>
            <a:r>
              <a:rPr b="1" i="0" lang="en-US" sz="1125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>
              <a:solidFill>
                <a:srgbClr val="0F172A"/>
              </a:solidFill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00100" y="5138737"/>
            <a:ext cx="6069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26"/>
              </a:rPr>
              <a:t>09.</a:t>
            </a:r>
            <a:r>
              <a:rPr b="1" i="0" lang="en-US" sz="1200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i="0" lang="en-US" sz="1125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Casos de éxito y páginas web públicas</a:t>
            </a:r>
            <a:endParaRPr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620325" y="1587550"/>
            <a:ext cx="5423400" cy="2721300"/>
          </a:xfrm>
          <a:prstGeom prst="roundRect">
            <a:avLst>
              <a:gd fmla="val 693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203050" y="1610777"/>
            <a:ext cx="5347800" cy="2698200"/>
          </a:xfrm>
          <a:prstGeom prst="roundRect">
            <a:avLst>
              <a:gd fmla="val 77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814654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2025" y="1814644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01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Lenguaje de Programación Utilizado (C#)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23925" y="2264129"/>
            <a:ext cx="617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Características de C#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23925" y="2662904"/>
            <a:ext cx="480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-Lenguaje principal .</a:t>
            </a:r>
            <a:endParaRPr i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Tipado fuerte orientado a objetos.</a:t>
            </a:r>
            <a:endParaRPr i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Sintaxis moderna y seguridad </a:t>
            </a:r>
            <a:endParaRPr i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Forma parte de la plataforma .NET.</a:t>
            </a:r>
            <a:endParaRPr i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396425" y="2257819"/>
            <a:ext cx="5629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Framework ASP.NET Core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472025" y="2740269"/>
            <a:ext cx="48006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i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Multiplataforma de alto rendimiento</a:t>
            </a:r>
            <a:endParaRPr i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Plus Jakarta Sans"/>
              <a:buChar char="-"/>
            </a:pPr>
            <a:r>
              <a:rPr i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Gestiona peticiones y respuestas HTTP</a:t>
            </a:r>
            <a:endParaRPr i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Plus Jakarta Sans"/>
              <a:buChar char="-"/>
            </a:pPr>
            <a:r>
              <a:rPr i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proporciona herramientas para crear APis y </a:t>
            </a:r>
            <a:r>
              <a:rPr i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páginas</a:t>
            </a:r>
            <a:r>
              <a:rPr i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web</a:t>
            </a:r>
            <a:endParaRPr i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657225" y="1509648"/>
            <a:ext cx="3505200" cy="4416900"/>
          </a:xfrm>
          <a:prstGeom prst="roundRect">
            <a:avLst>
              <a:gd fmla="val 792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4343400" y="1509741"/>
            <a:ext cx="3505200" cy="4416900"/>
          </a:xfrm>
          <a:prstGeom prst="roundRect">
            <a:avLst>
              <a:gd fmla="val 792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8077225" y="1509741"/>
            <a:ext cx="3505200" cy="4416900"/>
          </a:xfrm>
          <a:prstGeom prst="roundRect">
            <a:avLst>
              <a:gd fmla="val 792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13" y="1837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13" y="1837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1837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5375" y="19712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8700" y="19712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2500" y="197122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02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Requisitos para el Desarrollo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85825" y="2362200"/>
            <a:ext cx="38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.NET SDK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85825" y="2637225"/>
            <a:ext cx="3048000" cy="23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Desarrollar aplicaciones .NET y </a:t>
            </a:r>
            <a:r>
              <a:rPr i="1" lang="en-US" sz="1125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9"/>
              </a:rPr>
              <a:t>ASP.NET</a:t>
            </a: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Core.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0" marL="4572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 version mas reciente: NET SKD 10.0.401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0" marL="4572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Herramientas: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.NET CLI.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Compilador de C#.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MSBuild.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Herramientas de </a:t>
            </a: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publicación.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4619625" y="2362200"/>
            <a:ext cx="38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 Operativo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595813" y="2637225"/>
            <a:ext cx="30480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0038" lvl="0" marL="4572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Multiplataforma.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0" marL="4572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Compatibilidad con windows, macOS y Linux.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0" marL="4572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AutoNum type="arabicPeriod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Windows: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Studio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Studio Code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0" marL="4572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AutoNum type="arabicPeriod" startAt="2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macOS: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Studio Code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Rider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0" marL="4572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AutoNum type="arabicPeriod" startAt="2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Linux: 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Studio Code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Rider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8353425" y="2356613"/>
            <a:ext cx="383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Herramientas CLI / Gestores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53425" y="2637225"/>
            <a:ext cx="30480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.NET CLI: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dotnet new -&gt; crear.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dotnet build -&gt; compilar.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dotnet run -&gt; ejecutar.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dotnet publish -&gt;preparar.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0" marL="4572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NuGet: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añadir bibliotecas y dependencias.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Facil instalacion y actualizacion de paquetes.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 con proyectos </a:t>
            </a:r>
            <a:r>
              <a:rPr i="1" lang="en-US" sz="1125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10"/>
              </a:rPr>
              <a:t>ASP.NET</a:t>
            </a: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Core.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609550" y="1810575"/>
            <a:ext cx="6682800" cy="3949800"/>
          </a:xfrm>
          <a:prstGeom prst="roundRect">
            <a:avLst>
              <a:gd fmla="val 790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962050" y="4712372"/>
            <a:ext cx="5977500" cy="85530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080" y="2276475"/>
            <a:ext cx="3985319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03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Requisitos para la Ejecución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62025" y="2216950"/>
            <a:ext cx="784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Entorno de Runtime (.NET Runtime)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962025" y="2473687"/>
            <a:ext cx="6073200" cy="21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0038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Servidor: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Ejecutar aplicacion </a:t>
            </a:r>
            <a:r>
              <a:rPr i="1" lang="en-US" sz="1125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4"/>
              </a:rPr>
              <a:t>ASP.NET</a:t>
            </a: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core.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Pagina/</a:t>
            </a: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aplicación</a:t>
            </a: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preparada para ejecutarse. 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Lestrel, IIS, Nginx o Apache.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Windows, Linux o macOS.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Usuario: 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Chrome, Edge, Firefox.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Plus Jakarta Sans"/>
              <a:buChar char="-"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Conexion al servidor .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1123950" y="4851587"/>
            <a:ext cx="7067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💡 Dato clave para la presentación: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123950" y="5085862"/>
            <a:ext cx="7067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AOT: compila la </a:t>
            </a: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aplicación</a:t>
            </a: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codigo antes de ejecutarla.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Docker: permite empaquetar con lo necesario para ejecutarla en un contenedor.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1136" y="2327498"/>
            <a:ext cx="4694863" cy="29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304763" y="4128337"/>
            <a:ext cx="5391300" cy="11715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886413" y="4128337"/>
            <a:ext cx="5391300" cy="11715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04763" y="5490399"/>
            <a:ext cx="5391000" cy="106830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954438" y="5490399"/>
            <a:ext cx="5323200" cy="106830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888" y="440456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4538" y="440456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888" y="576663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4538" y="5766637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04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Compatibilidad con Servidores Web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42888" y="4366462"/>
            <a:ext cx="645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Kestrel Web Server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42888" y="4661737"/>
            <a:ext cx="5010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Servidor HTTP integrado.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Multiplataforma y de alto rendimiento.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6124538" y="4366462"/>
            <a:ext cx="576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Nginx / Apache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124538" y="4661737"/>
            <a:ext cx="57627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Proxy inverso.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Habitual en servidores Linux.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42888" y="5728537"/>
            <a:ext cx="645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IIS (Internet Information Services)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42888" y="6023812"/>
            <a:ext cx="61437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Microsoft.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Intermediario entre Internet y kestrel.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124538" y="5728537"/>
            <a:ext cx="576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 &amp; Contenedores Nube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124538" y="6023812"/>
            <a:ext cx="5762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Puede ejecutar contenedores Docker.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Pueden gestionarse con </a:t>
            </a: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kubernetes.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90" name="Google Shape;19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19200" y="1268825"/>
            <a:ext cx="9753600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/>
          <p:nvPr/>
        </p:nvSpPr>
        <p:spPr>
          <a:xfrm>
            <a:off x="609600" y="1223926"/>
            <a:ext cx="3505200" cy="5308500"/>
          </a:xfrm>
          <a:prstGeom prst="roundRect">
            <a:avLst>
              <a:gd fmla="val 85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343400" y="1223926"/>
            <a:ext cx="3505200" cy="5308500"/>
          </a:xfrm>
          <a:prstGeom prst="roundRect">
            <a:avLst>
              <a:gd fmla="val 85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8077200" y="1223951"/>
            <a:ext cx="3505200" cy="5308500"/>
          </a:xfrm>
          <a:prstGeom prst="roundRect">
            <a:avLst>
              <a:gd fmla="val 85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775" y="13161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7225" y="13161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3375" y="13161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025" y="143048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91525" y="14304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57675" y="14304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05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IDEs y Entornos de Desarrollo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224825" y="1402725"/>
            <a:ext cx="2709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Studio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90575" y="1754412"/>
            <a:ext cx="3048000" cy="4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Entorno de desarrollo insignia de microsoft , ofreciendo una experiencia mas completa y optimizada para programar en C# , a diferencia de VS Code esta pensada para construir , depurar y desplegar aplicaciones de cualquier escala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Funciones avanzadas: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IntelliCode &amp; IA integrada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Depuracion avanzada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Refactorizacion y analisis estatico con Roslyn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Hot Reload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Pruebas unitarias y Live Unit Testing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Diseñadores visuales y herramientas de arquitectura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4967425" y="1316175"/>
            <a:ext cx="228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JetBrains Rider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4572000" y="1754412"/>
            <a:ext cx="3048000" cy="47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Char char="-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 multiplataforma rápido, potente y enfocado en la productividad, desarrollado sobre el motor del famoso analizador de código ReSharper y la plataforma IntelliJ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Funciones avanzadas: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estático en tiempo real con ReSharper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Refactorizaciones globales ultra-precisas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de búsqueda y navegación instantánea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Soporte de primera clase para Unity y Unreal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Depuración avanzada y descompilación integrada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Herramientas de diagnóstico de memoria y rendimiento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8660900" y="1402737"/>
            <a:ext cx="383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VS Code + C# Dev Kit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257675" y="1754412"/>
            <a:ext cx="30480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Solución</a:t>
            </a: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más</a:t>
            </a: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ligera modular y multiplataforma para desarrolladores en busca de velocidad y menores consumos de recurso en un entorno </a:t>
            </a: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más</a:t>
            </a: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personalizable. Lo que lo convierte en completo mediante el uso de una arquitectura LSP (Lenguage server Protocol) y compilado con el motor de Visual Studio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Funciones avanzadas: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Explorador de Soluciones (.NET Solution Explorer)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IntelliCode impulsado por IA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Depuración avanzada y pruebas con Test Explorer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Soporte nativo para proyectos multi-proyecto y Roslyn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Integración nativa con Azure y Docker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52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Plus Jakarta Sans"/>
              <a:buAutoNum type="arabicPeriod"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Rendimiento ligero y multiplataforma </a:t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575000" y="1240591"/>
            <a:ext cx="3340200" cy="5186700"/>
          </a:xfrm>
          <a:prstGeom prst="roundRect">
            <a:avLst>
              <a:gd fmla="val 83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273600" y="1240601"/>
            <a:ext cx="3340200" cy="5186700"/>
          </a:xfrm>
          <a:prstGeom prst="roundRect">
            <a:avLst>
              <a:gd fmla="val 83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8200800" y="1303217"/>
            <a:ext cx="3340200" cy="5124000"/>
          </a:xfrm>
          <a:prstGeom prst="roundRect">
            <a:avLst>
              <a:gd fmla="val 8391" name="adj"/>
            </a:avLst>
          </a:prstGeom>
          <a:solidFill>
            <a:srgbClr val="E0E7FF"/>
          </a:solidFill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149" y="380046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8549" y="38004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06 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Evolución: De .NET Framework a Open Source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03600" y="1469237"/>
            <a:ext cx="2978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1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4502199" y="1469200"/>
            <a:ext cx="2978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2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429399" y="1531862"/>
            <a:ext cx="2978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338C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ACTUALIDAD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13125" y="1716887"/>
            <a:ext cx="375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.NET Framework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813125" y="1993112"/>
            <a:ext cx="2959200" cy="21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primera era de la plataforma, iniciada con el lanzamiento de .NET Framework 1.0 en 2002 por parte de Microsoft, se caracterizó por ser un ecosistema cerrado y fuertemente ligado al sistema operativo Windows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Código fuente propietario y cerrado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Dependencia absoluta de Windows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de distribución acoplado al S.O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Ecosistema centralizado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511724" y="1716850"/>
            <a:ext cx="375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.NET Core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4511724" y="1993074"/>
            <a:ext cx="2959200" cy="3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llegada de .NET Core en 2016 supuso el mayor punto de inflexión en la historia de Microsoft respecto a sus tecnologías de desarrollo, reescribiendo la plataforma desde cero para adaptarla al desarrollo web moderno.</a:t>
            </a:r>
            <a:endParaRPr b="0" i="1" sz="975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Apertura del código fuente (Open Source) y gobernanza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Soporte multiplataforma nativo (Linux y macOS)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Rediseño modular e independiente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Servidores web ligeros y rendimiento de alto nivel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Optimizado para contenedores y la Nube (Docker &amp; Cloud-Native)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8438924" y="1779512"/>
            <a:ext cx="371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.NET Unificado (.NET 8/9)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8438924" y="2055737"/>
            <a:ext cx="2959200" cy="3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Pasadas estas dos epocas se consiguio una convergencia total de este ecosistema eliminando distincion entre ramas antiguas y modernas consolidandose como una unica plataforma unificada , rapida y con capacidad para construir todo tipo de aplicaciones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Unificación total del ecosistema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Rendimiento de vanguardia (High-Performance)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Compilación AOT Nativa (Native Ahead-Of-Time)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Ciclo de lanzamientos predecible y soporte LTS 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513" lvl="0" marL="45720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5"/>
              <a:buFont typeface="Plus Jakarta Sans"/>
              <a:buChar char="-"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Cloud-Native e integración moderna</a:t>
            </a:r>
            <a:endParaRPr i="1" sz="97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/>
          <p:nvPr/>
        </p:nvSpPr>
        <p:spPr>
          <a:xfrm>
            <a:off x="609600" y="2933700"/>
            <a:ext cx="3124200" cy="809625"/>
          </a:xfrm>
          <a:prstGeom prst="roundRect">
            <a:avLst>
              <a:gd fmla="val 141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3886200" y="2933700"/>
            <a:ext cx="3124200" cy="809625"/>
          </a:xfrm>
          <a:prstGeom prst="roundRect">
            <a:avLst>
              <a:gd fmla="val 141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09600" y="3895725"/>
            <a:ext cx="3124200" cy="962025"/>
          </a:xfrm>
          <a:prstGeom prst="roundRect">
            <a:avLst>
              <a:gd fmla="val 118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3886200" y="3895725"/>
            <a:ext cx="3124200" cy="962025"/>
          </a:xfrm>
          <a:prstGeom prst="roundRect">
            <a:avLst>
              <a:gd fmla="val 118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2371725"/>
            <a:ext cx="42672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07 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Versatilidad y Alcance del Ecosistema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339100" y="2933700"/>
            <a:ext cx="150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ASP.NET Web APIs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59750" y="3140625"/>
            <a:ext cx="28671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 un framework de .NET diseñado para construir servicios HTTP RESTful que sirven de backend a cualquier cliente.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170350" y="2933700"/>
            <a:ext cx="55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Blazor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3982800" y="3140625"/>
            <a:ext cx="29310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construir interfaces de usuario interactivas utilizando C# y sustituyendo a  HTML  , JavaScript. 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1657850" y="3955725"/>
            <a:ext cx="87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.NET MAUI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59750" y="4128975"/>
            <a:ext cx="2764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 el framework multiplataforma de Microsoft para construir aplicaciones nativas para iOS, Android, macOS y Windows desde una única base de código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4869300" y="3927150"/>
            <a:ext cx="102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Unity Engine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3973225" y="4128975"/>
            <a:ext cx="2793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Sirve para la creacion de videojuegos lider en la industria que utiliza C# para crear programacion de videojuegos en 2D , 3D , VR y AR</a:t>
            </a:r>
            <a:endParaRPr/>
          </a:p>
        </p:txBody>
      </p:sp>
      <p:pic>
        <p:nvPicPr>
          <p:cNvPr id="251" name="Google Shape;25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6975" y="2863687"/>
            <a:ext cx="4792771" cy="206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/>
          <p:nvPr/>
        </p:nvSpPr>
        <p:spPr>
          <a:xfrm>
            <a:off x="5168949" y="2733972"/>
            <a:ext cx="6413450" cy="2247155"/>
          </a:xfrm>
          <a:prstGeom prst="roundRect">
            <a:avLst>
              <a:gd fmla="val 67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08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Ejemplos de Código y Estructura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5397499" y="3206047"/>
            <a:ext cx="60516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86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C7D2FE"/>
                </a:solidFill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-US" sz="900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 builder = WebApplication.CreateBuilder(args);</a:t>
            </a:r>
            <a:endParaRPr sz="900">
              <a:solidFill>
                <a:srgbClr val="F43F5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86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C7D2FE"/>
                </a:solidFill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-US" sz="900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 app = builder.Build();</a:t>
            </a:r>
            <a:endParaRPr sz="900">
              <a:solidFill>
                <a:srgbClr val="F43F5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86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43F5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86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app.MapGet(</a:t>
            </a:r>
            <a:r>
              <a:rPr lang="en-US" sz="900">
                <a:solidFill>
                  <a:srgbClr val="00FF00"/>
                </a:solidFill>
                <a:latin typeface="Fira Code"/>
                <a:ea typeface="Fira Code"/>
                <a:cs typeface="Fira Code"/>
                <a:sym typeface="Fira Code"/>
              </a:rPr>
              <a:t>"/api/datos"</a:t>
            </a:r>
            <a:r>
              <a:rPr lang="en-US" sz="900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, () =&gt; </a:t>
            </a:r>
            <a:r>
              <a:rPr lang="en-US" sz="900">
                <a:solidFill>
                  <a:srgbClr val="C7D2FE"/>
                </a:solidFill>
                <a:latin typeface="Fira Code"/>
                <a:ea typeface="Fira Code"/>
                <a:cs typeface="Fira Code"/>
                <a:sym typeface="Fira Code"/>
              </a:rPr>
              <a:t>new</a:t>
            </a:r>
            <a:r>
              <a:rPr lang="en-US" sz="900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 { Mensaje = </a:t>
            </a:r>
            <a:r>
              <a:rPr lang="en-US" sz="900">
                <a:solidFill>
                  <a:srgbClr val="00FF00"/>
                </a:solidFill>
                <a:latin typeface="Fira Code"/>
                <a:ea typeface="Fira Code"/>
                <a:cs typeface="Fira Code"/>
                <a:sym typeface="Fira Code"/>
              </a:rPr>
              <a:t>"Servidor funcionando"</a:t>
            </a:r>
            <a:r>
              <a:rPr lang="en-US" sz="900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 });</a:t>
            </a:r>
            <a:endParaRPr sz="900">
              <a:solidFill>
                <a:srgbClr val="F43F5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86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43F5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86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app.Run();</a:t>
            </a:r>
            <a:endParaRPr sz="900">
              <a:solidFill>
                <a:srgbClr val="F43F5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86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43F5E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609600" y="1320825"/>
            <a:ext cx="250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Minimal APIs / Estructura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09600" y="1786697"/>
            <a:ext cx="4349700" cy="3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variable builder inicializa un constructor preparando la configuracion de la aplicacion web (variables de entorno , servicios y dependencias )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variable app construye la instancia 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app.mapGet define un endpoint HTTP de tipo get en la ruta /api/datos para que cuando un cliente haga una peticion a esa ruta la api responde con un objeto JSON contiendo un {“mensaje” : “servidor encontrado” }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app.run(): inicia la aplicaion y empieza a escuchar peticiones http en el puerto configurado </a:t>
            </a:r>
            <a:endParaRPr i="1" sz="1125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5397549" y="2962572"/>
            <a:ext cx="679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Ejemplo de código C#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/>
          <p:nvPr/>
        </p:nvSpPr>
        <p:spPr>
          <a:xfrm>
            <a:off x="575075" y="1162050"/>
            <a:ext cx="5391300" cy="2717400"/>
          </a:xfrm>
          <a:prstGeom prst="roundRect">
            <a:avLst>
              <a:gd fmla="val 161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191250" y="1162050"/>
            <a:ext cx="5391300" cy="2717400"/>
          </a:xfrm>
          <a:prstGeom prst="roundRect">
            <a:avLst>
              <a:gd fmla="val 161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609600" y="3990975"/>
            <a:ext cx="5391000" cy="2717400"/>
          </a:xfrm>
          <a:prstGeom prst="roundRect">
            <a:avLst>
              <a:gd fmla="val 161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191250" y="3990975"/>
            <a:ext cx="5391000" cy="2717400"/>
          </a:xfrm>
          <a:prstGeom prst="roundRect">
            <a:avLst>
              <a:gd fmla="val 161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12B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09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Páginas Web Públicas 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13200" y="1400175"/>
            <a:ext cx="367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/>
              </a:rPr>
              <a:t>Stack Overflow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813200" y="1695450"/>
            <a:ext cx="4984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</a:t>
            </a: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 hecha para preguntas y respuestas de los programadores mas grandes del mundo procesando un gran volumen de trafico con servidores muy eficientes 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310350" y="1400175"/>
            <a:ext cx="51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4"/>
              </a:rPr>
              <a:t>Microsoft.com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310275" y="1690575"/>
            <a:ext cx="5762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Pagina oficial del creador de C# y .NET incluyendo servicios en la nube , tiendas y documentacion comercial 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47725" y="4229100"/>
            <a:ext cx="6450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5"/>
              </a:rPr>
              <a:t>MarketWatch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47725" y="4524375"/>
            <a:ext cx="6143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portal de noticias financieras y de bolsa de valores de gran tráfico 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6429375" y="4229100"/>
            <a:ext cx="5762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1500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6"/>
              </a:rPr>
              <a:t>GoDaddy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429375" y="4524375"/>
            <a:ext cx="503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Registradores de dominios y proveedores de alojamientos web mas grandes en gran parte de su arquitectura e interfaz publica para gestionar usuarios y dominios </a:t>
            </a:r>
            <a:endParaRPr/>
          </a:p>
        </p:txBody>
      </p:sp>
      <p:pic>
        <p:nvPicPr>
          <p:cNvPr id="281" name="Google Shape;281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59675" y="2228466"/>
            <a:ext cx="2724924" cy="14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82875" y="2265306"/>
            <a:ext cx="3807749" cy="147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71375" y="5064517"/>
            <a:ext cx="4101521" cy="14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49097" y="5066325"/>
            <a:ext cx="4194551" cy="140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232975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3125" y="248215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 txBox="1"/>
          <p:nvPr/>
        </p:nvSpPr>
        <p:spPr>
          <a:xfrm>
            <a:off x="2620565" y="3091755"/>
            <a:ext cx="695086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y Preguntas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4333875" y="4356645"/>
            <a:ext cx="3524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¡MUCHAS GRACIAS POR SU ATENCIÓN!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